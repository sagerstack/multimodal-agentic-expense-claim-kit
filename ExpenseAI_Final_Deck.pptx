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871655" y="0"/>
            <a:ext cx="320040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11734495" y="0"/>
            <a:ext cx="73152" cy="6858000"/>
          </a:xfrm>
          <a:prstGeom prst="rect">
            <a:avLst/>
          </a:prstGeom>
          <a:solidFill>
            <a:srgbClr val="FEF3C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SYSTEMS · SUTD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Expense Claims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Multi-Agent, Multimodal System for Automated Expense Report Processing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731520" y="3611880"/>
            <a:ext cx="3200400" cy="0"/>
          </a:xfrm>
          <a:prstGeom prst="line">
            <a:avLst/>
          </a:prstGeom>
          <a:noFill/>
          <a:ln w="15875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8862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T. Tung  ·  J. Lau  ·  J. Oon  ·  S. P. Singh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1011011  ·  1001530  ·  1010718  ·  1010736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748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 → &lt;3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3748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per claim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75508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375508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 accuracy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27268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027268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agents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79028" y="521208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8679028" y="5715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modalities grounded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expense claims are slow and fragile — multimodality alone won't fix it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 today (SAP Concur at SUTD)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Reimbursements can take up to 2 months across multiple validation stages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Claimants manually transcribe receipts, map GL codes, interpret policy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manually cross-check receipts against policy text and history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hard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783080"/>
            <a:ext cx="5303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errors on varied receipts (lighting, handwriting, non-standard layouts)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 min average submission time per claim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Incorrect fills trigger days of back-and-forth between claimant and approver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rules span categories with distinct thresholds → frequent rejections</a:t>
            </a:r>
            <a:endParaRPr lang="en-US" sz="12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validation before submission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11277295" cy="324612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246120"/>
            <a:ext cx="73152" cy="32461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3375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Could one multimodal LLM do it all?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657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an oracle VLM that reads the receipt, policy, and record in one prompt is still not enough: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95935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95935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5079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act on external 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3434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SQL over history, live FX, vector policy search, email, audit-log writes — bounded, auditable tool calls.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05858" y="395935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5858" y="395935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4688738" y="405079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iterate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88738" y="43434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Low-confidence extractions need a clarifying turn; parse failures need retry. Single-pass has no loop.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25917" y="395935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325917" y="395935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8508797" y="405079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fan out in parallel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508797" y="434340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and fraud are independent — LangGraph fan-out cuts latency. One prompt serialises everything.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505663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505663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514807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Mixes trust boundaries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68680" y="544068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duplicate checks should short-circuit before the LLM; per-stage conservative fallbacks matter.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05858" y="505663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05858" y="505663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4" name="Text 32"/>
          <p:cNvSpPr/>
          <p:nvPr/>
        </p:nvSpPr>
        <p:spPr>
          <a:xfrm>
            <a:off x="4688738" y="514807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Hallucinates terminal actions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688738" y="544068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model announced submission with fabricated claim numbers — never calling the tool.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325917" y="5056632"/>
            <a:ext cx="3545738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25917" y="5056632"/>
            <a:ext cx="54864" cy="9601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508797" y="5148072"/>
            <a:ext cx="32714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Opaque, non-auditable verdict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508797" y="5440680"/>
            <a:ext cx="32714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yields independent evidence per modality, each improvable and testable in isolation.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85800" y="6172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The right answer is a multimodal system, not a multimodal model.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LangGraph agents, two stages, shared typed state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POST-SUBMISSION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0" cy="3429000"/>
          </a:xfrm>
          <a:prstGeom prst="line">
            <a:avLst/>
          </a:prstGeom>
          <a:noFill/>
          <a:ln w="9525">
            <a:solidFill>
              <a:srgbClr val="CBD5E1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548640" y="1828800"/>
            <a:ext cx="2011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1828800"/>
            <a:ext cx="201168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1947672"/>
            <a:ext cx="274320" cy="27432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975104"/>
            <a:ext cx="219456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0584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85800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ReAct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8580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Claimant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85800" y="290779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loop: VLM extract, RAG policy, FX, submit, ask-human.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2926080" y="2468880"/>
            <a:ext cx="91440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0" y="26060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26080" y="3474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submitted?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400800" y="1828800"/>
            <a:ext cx="2011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400800" y="1828800"/>
            <a:ext cx="201168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4" name="Shape 21"/>
          <p:cNvSpPr/>
          <p:nvPr/>
        </p:nvSpPr>
        <p:spPr>
          <a:xfrm>
            <a:off x="6537960" y="1947672"/>
            <a:ext cx="274320" cy="27432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5392" y="1975104"/>
            <a:ext cx="219456" cy="219456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5800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6537960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Evaluator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653796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System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37960" y="290779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claim against policies → pass/fail JSON with cited clauses.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6400800" y="4206240"/>
            <a:ext cx="201168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00800" y="4206240"/>
            <a:ext cx="201168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2" name="Shape 28"/>
          <p:cNvSpPr/>
          <p:nvPr/>
        </p:nvSpPr>
        <p:spPr>
          <a:xfrm>
            <a:off x="6537960" y="4325112"/>
            <a:ext cx="274320" cy="27432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4352544"/>
            <a:ext cx="219456" cy="219456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685800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6537960" y="475488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Tool + Rules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6537960" y="501091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DB queries + rule-based duplicate short-circuit before LLM.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9509760" y="1828800"/>
            <a:ext cx="20116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3"/>
          <p:cNvSpPr/>
          <p:nvPr/>
        </p:nvSpPr>
        <p:spPr>
          <a:xfrm>
            <a:off x="9509760" y="1828800"/>
            <a:ext cx="2011680" cy="50292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9" name="Shape 34"/>
          <p:cNvSpPr/>
          <p:nvPr/>
        </p:nvSpPr>
        <p:spPr>
          <a:xfrm>
            <a:off x="9646920" y="1947672"/>
            <a:ext cx="274320" cy="274320"/>
          </a:xfrm>
          <a:prstGeom prst="ellipse">
            <a:avLst/>
          </a:prstGeom>
          <a:solidFill>
            <a:srgbClr val="1E2A4A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4352" y="1975104"/>
            <a:ext cx="219456" cy="219456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9966960" y="1920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</a:t>
            </a:r>
            <a:endParaRPr lang="en-US" sz="1400" dirty="0"/>
          </a:p>
        </p:txBody>
      </p:sp>
      <p:sp>
        <p:nvSpPr>
          <p:cNvPr id="42" name="Text 36"/>
          <p:cNvSpPr/>
          <p:nvPr/>
        </p:nvSpPr>
        <p:spPr>
          <a:xfrm>
            <a:off x="9646920" y="23957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Reflection + Routing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9646920" y="263347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Reviewer</a:t>
            </a:r>
            <a:endParaRPr lang="en-US" sz="1000" dirty="0"/>
          </a:p>
        </p:txBody>
      </p:sp>
      <p:sp>
        <p:nvSpPr>
          <p:cNvPr id="44" name="Text 38"/>
          <p:cNvSpPr/>
          <p:nvPr/>
        </p:nvSpPr>
        <p:spPr>
          <a:xfrm>
            <a:off x="9646920" y="2907792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compliance + fraud into a risk-weighted routing decision.</a:t>
            </a:r>
            <a:endParaRPr lang="en-US" sz="950" dirty="0"/>
          </a:p>
        </p:txBody>
      </p:sp>
      <p:sp>
        <p:nvSpPr>
          <p:cNvPr id="45" name="Text 39"/>
          <p:cNvSpPr/>
          <p:nvPr/>
        </p:nvSpPr>
        <p:spPr>
          <a:xfrm>
            <a:off x="45720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00" dirty="0"/>
          </a:p>
        </p:txBody>
      </p:sp>
      <p:sp>
        <p:nvSpPr>
          <p:cNvPr id="46" name="Shape 40"/>
          <p:cNvSpPr/>
          <p:nvPr/>
        </p:nvSpPr>
        <p:spPr>
          <a:xfrm>
            <a:off x="2560320" y="2926080"/>
            <a:ext cx="365760" cy="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47" name="Shape 41"/>
          <p:cNvSpPr/>
          <p:nvPr/>
        </p:nvSpPr>
        <p:spPr>
          <a:xfrm>
            <a:off x="3840480" y="2651760"/>
            <a:ext cx="2560320" cy="-1828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48" name="Text 42"/>
          <p:cNvSpPr/>
          <p:nvPr/>
        </p:nvSpPr>
        <p:spPr>
          <a:xfrm>
            <a:off x="3931920" y="21488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900" dirty="0"/>
          </a:p>
        </p:txBody>
      </p:sp>
      <p:sp>
        <p:nvSpPr>
          <p:cNvPr id="49" name="Shape 43"/>
          <p:cNvSpPr/>
          <p:nvPr/>
        </p:nvSpPr>
        <p:spPr>
          <a:xfrm>
            <a:off x="3840480" y="3200400"/>
            <a:ext cx="2560320" cy="15544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0" name="Shape 44"/>
          <p:cNvSpPr/>
          <p:nvPr/>
        </p:nvSpPr>
        <p:spPr>
          <a:xfrm>
            <a:off x="3383280" y="3383280"/>
            <a:ext cx="0" cy="1554480"/>
          </a:xfrm>
          <a:prstGeom prst="line">
            <a:avLst/>
          </a:prstGeom>
          <a:noFill/>
          <a:ln w="12700">
            <a:solidFill>
              <a:srgbClr val="475569"/>
            </a:solidFill>
            <a:prstDash val="dash"/>
            <a:tailEnd type="triangle"/>
          </a:ln>
        </p:spPr>
      </p:sp>
      <p:sp>
        <p:nvSpPr>
          <p:cNvPr id="51" name="Text 45"/>
          <p:cNvSpPr/>
          <p:nvPr/>
        </p:nvSpPr>
        <p:spPr>
          <a:xfrm>
            <a:off x="3017520" y="49834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→ END</a:t>
            </a:r>
            <a:endParaRPr lang="en-US" sz="900" dirty="0"/>
          </a:p>
        </p:txBody>
      </p:sp>
      <p:sp>
        <p:nvSpPr>
          <p:cNvPr id="52" name="Shape 46"/>
          <p:cNvSpPr/>
          <p:nvPr/>
        </p:nvSpPr>
        <p:spPr>
          <a:xfrm>
            <a:off x="8412480" y="2926080"/>
            <a:ext cx="1097280" cy="18288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3" name="Shape 47"/>
          <p:cNvSpPr/>
          <p:nvPr/>
        </p:nvSpPr>
        <p:spPr>
          <a:xfrm>
            <a:off x="8412480" y="4846320"/>
            <a:ext cx="1097280" cy="-1737360"/>
          </a:xfrm>
          <a:prstGeom prst="line">
            <a:avLst/>
          </a:prstGeom>
          <a:noFill/>
          <a:ln w="15875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54" name="Text 48"/>
          <p:cNvSpPr/>
          <p:nvPr/>
        </p:nvSpPr>
        <p:spPr>
          <a:xfrm>
            <a:off x="8458200" y="37947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11612880" y="278892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00" dirty="0"/>
          </a:p>
        </p:txBody>
      </p:sp>
      <p:sp>
        <p:nvSpPr>
          <p:cNvPr id="56" name="Shape 50"/>
          <p:cNvSpPr/>
          <p:nvPr/>
        </p:nvSpPr>
        <p:spPr>
          <a:xfrm>
            <a:off x="457200" y="5760720"/>
            <a:ext cx="11277295" cy="64008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85800" y="583387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ClaimState (TypedDict) persisted via AsyncPostgresSaver checkpointer</a:t>
            </a:r>
            <a:endParaRPr lang="en-US" sz="1100" dirty="0"/>
          </a:p>
        </p:txBody>
      </p:sp>
      <p:sp>
        <p:nvSpPr>
          <p:cNvPr id="58" name="Text 52"/>
          <p:cNvSpPr/>
          <p:nvPr/>
        </p:nvSpPr>
        <p:spPr>
          <a:xfrm>
            <a:off x="685800" y="608990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extractedReceipt · violations · currencyConversion · complianceFindings · fraudFindings · advisorDecision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agent has a distinct pattern, persona, and tool set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127729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1143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755648"/>
            <a:ext cx="731520" cy="73152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9280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600200" y="16916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Intake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566160" y="1755648"/>
            <a:ext cx="1691640" cy="292608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/>
        </p:spPr>
      </p:sp>
      <p:sp>
        <p:nvSpPr>
          <p:cNvPr id="14" name="Text 11"/>
          <p:cNvSpPr/>
          <p:nvPr/>
        </p:nvSpPr>
        <p:spPr>
          <a:xfrm>
            <a:off x="3566160" y="175564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349240" y="1755648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CCFBF1"/>
          </a:solidFill>
          <a:ln/>
        </p:spPr>
      </p:sp>
      <p:sp>
        <p:nvSpPr>
          <p:cNvPr id="16" name="Text 13"/>
          <p:cNvSpPr/>
          <p:nvPr/>
        </p:nvSpPr>
        <p:spPr>
          <a:xfrm>
            <a:off x="5349240" y="1755648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Claimant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600200" y="2084832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user through submission conversationally. Extracts receipts, pre-validates policy, converts currency, persists the claim.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680960" y="169164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680960" y="18928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getClaimSchema · extractReceiptFields (VLM) · searchPolicies (RAG) · convertCurrency · submitClaim · requestHumanInput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57200" y="2807208"/>
            <a:ext cx="1127729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2807208"/>
            <a:ext cx="73152" cy="1143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2" name="Shape 19"/>
          <p:cNvSpPr/>
          <p:nvPr/>
        </p:nvSpPr>
        <p:spPr>
          <a:xfrm>
            <a:off x="685800" y="3008376"/>
            <a:ext cx="731520" cy="73152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3145536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600200" y="294436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3566160" y="3008376"/>
            <a:ext cx="1691640" cy="292608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/>
        </p:spPr>
      </p:sp>
      <p:sp>
        <p:nvSpPr>
          <p:cNvPr id="26" name="Text 22"/>
          <p:cNvSpPr/>
          <p:nvPr/>
        </p:nvSpPr>
        <p:spPr>
          <a:xfrm>
            <a:off x="3566160" y="30083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349240" y="3008376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CCFBF1"/>
          </a:solidFill>
          <a:ln/>
        </p:spPr>
      </p:sp>
      <p:sp>
        <p:nvSpPr>
          <p:cNvPr id="28" name="Text 24"/>
          <p:cNvSpPr/>
          <p:nvPr/>
        </p:nvSpPr>
        <p:spPr>
          <a:xfrm>
            <a:off x="5349240" y="3008376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System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1600200" y="333756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the submitted claim against retrieved policy clauses. Produces pass/fail with cited clauses and approval-threshold flags. Falls back to 'requires review' on parse failure.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7680960" y="2944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7680960" y="314553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searchPolicies (RAG) · structured JSON verdict</a:t>
            </a:r>
            <a:endParaRPr lang="en-US" sz="950" dirty="0"/>
          </a:p>
        </p:txBody>
      </p:sp>
      <p:sp>
        <p:nvSpPr>
          <p:cNvPr id="32" name="Shape 28"/>
          <p:cNvSpPr/>
          <p:nvPr/>
        </p:nvSpPr>
        <p:spPr>
          <a:xfrm>
            <a:off x="457200" y="4059936"/>
            <a:ext cx="1127729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57200" y="4059936"/>
            <a:ext cx="73152" cy="1143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34" name="Shape 30"/>
          <p:cNvSpPr/>
          <p:nvPr/>
        </p:nvSpPr>
        <p:spPr>
          <a:xfrm>
            <a:off x="685800" y="4261104"/>
            <a:ext cx="731520" cy="73152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98264"/>
            <a:ext cx="457200" cy="457200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600200" y="419709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Fraud</a:t>
            </a:r>
            <a:endParaRPr lang="en-US" sz="1800" dirty="0"/>
          </a:p>
        </p:txBody>
      </p:sp>
      <p:sp>
        <p:nvSpPr>
          <p:cNvPr id="37" name="Shape 32"/>
          <p:cNvSpPr/>
          <p:nvPr/>
        </p:nvSpPr>
        <p:spPr>
          <a:xfrm>
            <a:off x="3566160" y="4261104"/>
            <a:ext cx="1691640" cy="292608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/>
        </p:spPr>
      </p:sp>
      <p:sp>
        <p:nvSpPr>
          <p:cNvPr id="38" name="Text 33"/>
          <p:cNvSpPr/>
          <p:nvPr/>
        </p:nvSpPr>
        <p:spPr>
          <a:xfrm>
            <a:off x="3566160" y="426110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Tool-call + Rules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349240" y="4261104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CCFBF1"/>
          </a:solidFill>
          <a:ln/>
        </p:spPr>
      </p:sp>
      <p:sp>
        <p:nvSpPr>
          <p:cNvPr id="40" name="Text 35"/>
          <p:cNvSpPr/>
          <p:nvPr/>
        </p:nvSpPr>
        <p:spPr>
          <a:xfrm>
            <a:off x="5349240" y="42611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System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600200" y="459028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targeted DB queries (exact duplicate, recent-by-employee, merchant history). Rule short-circuit for exact duplicates before calling the LLM with statistical context.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7680960" y="419709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43" name="Text 38"/>
          <p:cNvSpPr/>
          <p:nvPr/>
        </p:nvSpPr>
        <p:spPr>
          <a:xfrm>
            <a:off x="7680960" y="439826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executeQuery (DB) · duplicate-check rule · LLM anomaly detection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457200" y="5312664"/>
            <a:ext cx="11277295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0"/>
          <p:cNvSpPr/>
          <p:nvPr/>
        </p:nvSpPr>
        <p:spPr>
          <a:xfrm>
            <a:off x="457200" y="5312664"/>
            <a:ext cx="73152" cy="114300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46" name="Shape 41"/>
          <p:cNvSpPr/>
          <p:nvPr/>
        </p:nvSpPr>
        <p:spPr>
          <a:xfrm>
            <a:off x="685800" y="5513832"/>
            <a:ext cx="731520" cy="73152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650992"/>
            <a:ext cx="457200" cy="457200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1600200" y="5449824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Advisor</a:t>
            </a:r>
            <a:endParaRPr lang="en-US" sz="1800" dirty="0"/>
          </a:p>
        </p:txBody>
      </p:sp>
      <p:sp>
        <p:nvSpPr>
          <p:cNvPr id="49" name="Shape 43"/>
          <p:cNvSpPr/>
          <p:nvPr/>
        </p:nvSpPr>
        <p:spPr>
          <a:xfrm>
            <a:off x="3566160" y="5513832"/>
            <a:ext cx="1691640" cy="292608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/>
        </p:spPr>
      </p:sp>
      <p:sp>
        <p:nvSpPr>
          <p:cNvPr id="50" name="Text 44"/>
          <p:cNvSpPr/>
          <p:nvPr/>
        </p:nvSpPr>
        <p:spPr>
          <a:xfrm>
            <a:off x="3566160" y="551383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+ Routing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5349240" y="551383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CCFBF1"/>
          </a:solidFill>
          <a:ln/>
        </p:spPr>
      </p:sp>
      <p:sp>
        <p:nvSpPr>
          <p:cNvPr id="52" name="Text 46"/>
          <p:cNvSpPr/>
          <p:nvPr/>
        </p:nvSpPr>
        <p:spPr>
          <a:xfrm>
            <a:off x="5349240" y="5513832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Serves: Reviewer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1600200" y="5843016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Synthesises compliance + fraud into a routing decision: auto-approve · return to claimant · escalate to reviewer. Attaches policy citations and email notifications.</a:t>
            </a:r>
            <a:endParaRPr lang="en-US" sz="1100" dirty="0"/>
          </a:p>
        </p:txBody>
      </p:sp>
      <p:sp>
        <p:nvSpPr>
          <p:cNvPr id="54" name="Text 48"/>
          <p:cNvSpPr/>
          <p:nvPr/>
        </p:nvSpPr>
        <p:spPr>
          <a:xfrm>
            <a:off x="7680960" y="544982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900" dirty="0"/>
          </a:p>
        </p:txBody>
      </p:sp>
      <p:sp>
        <p:nvSpPr>
          <p:cNvPr id="55" name="Text 49"/>
          <p:cNvSpPr/>
          <p:nvPr/>
        </p:nvSpPr>
        <p:spPr>
          <a:xfrm>
            <a:off x="7680960" y="565099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C3E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searchPolicies · updateClaimStatus · sendNotification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GROUNDING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modalities, cross-validated at every stage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3657600" cy="173736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08760"/>
            <a:ext cx="36576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685800" y="1737360"/>
            <a:ext cx="502920" cy="50292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819656"/>
            <a:ext cx="338328" cy="33832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71600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7160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 2.5-VL-72B · Gemini 2.0 Flash VLM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85800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photos → merchant, date, amount, currency, category with per-field confidence. No separate OCR pipeline.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370832" y="1508760"/>
            <a:ext cx="3657600" cy="173736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70832" y="1508760"/>
            <a:ext cx="36576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4"/>
          <p:cNvSpPr/>
          <p:nvPr/>
        </p:nvSpPr>
        <p:spPr>
          <a:xfrm>
            <a:off x="4599432" y="1737360"/>
            <a:ext cx="502920" cy="50292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728" y="1819656"/>
            <a:ext cx="338328" cy="33832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85232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Text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285232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· Qdrant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4599432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documents chunked &amp; embedded for RAG. Conversational turns processed inside the ReAct loop.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284464" y="1508760"/>
            <a:ext cx="3657600" cy="173736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284464" y="1508760"/>
            <a:ext cx="3657600" cy="54864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4" name="Shape 20"/>
          <p:cNvSpPr/>
          <p:nvPr/>
        </p:nvSpPr>
        <p:spPr>
          <a:xfrm>
            <a:off x="8513064" y="1737360"/>
            <a:ext cx="502920" cy="502920"/>
          </a:xfrm>
          <a:prstGeom prst="ellipse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819656"/>
            <a:ext cx="338328" cy="33832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98864" y="170992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Structured data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198864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· Frankfurter API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8513064" y="23774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claims, approval thresholds, live FX rates — consumed as JSON via MCP tool calls. Model-agnostic.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57200" y="35204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interaction — each agent reconciles signals across modalities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457200" y="3886200"/>
            <a:ext cx="11277295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594360" y="39593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1920240" y="3995928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CCFBF1"/>
          </a:solidFill>
          <a:ln/>
        </p:spPr>
      </p:sp>
      <p:sp>
        <p:nvSpPr>
          <p:cNvPr id="33" name="Text 28"/>
          <p:cNvSpPr/>
          <p:nvPr/>
        </p:nvSpPr>
        <p:spPr>
          <a:xfrm>
            <a:off x="1920240" y="399592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+ FX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4526280" y="395935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VLM-extracted fields against retrieved policy clauses; reconciles currency with live FX rates.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457200" y="4416552"/>
            <a:ext cx="11277295" cy="530352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94360" y="448970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37" name="Shape 32"/>
          <p:cNvSpPr/>
          <p:nvPr/>
        </p:nvSpPr>
        <p:spPr>
          <a:xfrm>
            <a:off x="1920240" y="4526280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CCFBF1"/>
          </a:solidFill>
          <a:ln/>
        </p:spPr>
      </p:sp>
      <p:sp>
        <p:nvSpPr>
          <p:cNvPr id="38" name="Text 33"/>
          <p:cNvSpPr/>
          <p:nvPr/>
        </p:nvSpPr>
        <p:spPr>
          <a:xfrm>
            <a:off x="1920240" y="4526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text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526280" y="4489704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the claim record against policy text → verdict grounded in both modalities.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457200" y="4946904"/>
            <a:ext cx="11277295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94360" y="502005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1920240" y="5056632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CCFBF1"/>
          </a:solidFill>
          <a:ln/>
        </p:spPr>
      </p:sp>
      <p:sp>
        <p:nvSpPr>
          <p:cNvPr id="43" name="Text 38"/>
          <p:cNvSpPr/>
          <p:nvPr/>
        </p:nvSpPr>
        <p:spPr>
          <a:xfrm>
            <a:off x="1920240" y="505663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structured</a:t>
            </a:r>
            <a:endParaRPr lang="en-US" sz="1000" dirty="0"/>
          </a:p>
        </p:txBody>
      </p:sp>
      <p:sp>
        <p:nvSpPr>
          <p:cNvPr id="44" name="Text 39"/>
          <p:cNvSpPr/>
          <p:nvPr/>
        </p:nvSpPr>
        <p:spPr>
          <a:xfrm>
            <a:off x="4526280" y="5020056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receipt-derived details against historical DB rows for duplicates and statistical anomalies.</a:t>
            </a:r>
            <a:endParaRPr lang="en-US" sz="1100" dirty="0"/>
          </a:p>
        </p:txBody>
      </p:sp>
      <p:sp>
        <p:nvSpPr>
          <p:cNvPr id="45" name="Shape 40"/>
          <p:cNvSpPr/>
          <p:nvPr/>
        </p:nvSpPr>
        <p:spPr>
          <a:xfrm>
            <a:off x="457200" y="5477256"/>
            <a:ext cx="11277295" cy="530352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594360" y="555040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</a:t>
            </a:r>
            <a:endParaRPr lang="en-US" sz="1200" dirty="0"/>
          </a:p>
        </p:txBody>
      </p:sp>
      <p:sp>
        <p:nvSpPr>
          <p:cNvPr id="47" name="Shape 42"/>
          <p:cNvSpPr/>
          <p:nvPr/>
        </p:nvSpPr>
        <p:spPr>
          <a:xfrm>
            <a:off x="1920240" y="5586984"/>
            <a:ext cx="2468880" cy="310896"/>
          </a:xfrm>
          <a:prstGeom prst="roundRect">
            <a:avLst>
              <a:gd name="adj" fmla="val 35294"/>
            </a:avLst>
          </a:prstGeom>
          <a:solidFill>
            <a:srgbClr val="CCFBF1"/>
          </a:solidFill>
          <a:ln/>
        </p:spPr>
      </p:sp>
      <p:sp>
        <p:nvSpPr>
          <p:cNvPr id="48" name="Text 43"/>
          <p:cNvSpPr/>
          <p:nvPr/>
        </p:nvSpPr>
        <p:spPr>
          <a:xfrm>
            <a:off x="1920240" y="558698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5E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+ text + structured</a:t>
            </a:r>
            <a:endParaRPr lang="en-US" sz="1000" dirty="0"/>
          </a:p>
        </p:txBody>
      </p:sp>
      <p:sp>
        <p:nvSpPr>
          <p:cNvPr id="49" name="Text 44"/>
          <p:cNvSpPr/>
          <p:nvPr/>
        </p:nvSpPr>
        <p:spPr>
          <a:xfrm>
            <a:off x="4526280" y="5550408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extraction confidence, compliance verdict, and fraud statistics into a risk-weighted routing decision.</a:t>
            </a:r>
            <a:endParaRPr lang="en-US" sz="1100" dirty="0"/>
          </a:p>
        </p:txBody>
      </p:sp>
      <p:sp>
        <p:nvSpPr>
          <p:cNvPr id="50" name="Text 45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single model drives the decision — each modality contributes independently verifiable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&amp; TOOL CHOICES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+ tiered LLM/VLM + four MCP servers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486400" cy="201168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2011680"/>
          </a:xfrm>
          <a:prstGeom prst="rect">
            <a:avLst/>
          </a:prstGeom>
          <a:solidFill>
            <a:srgbClr val="1E2A4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673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LangGraph StateGraph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05740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branching (evaluator gate)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 (compliance ∥ fraud)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loops via create_react_agent</a:t>
            </a:r>
            <a:endParaRPr lang="en-US" sz="11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AsyncPostgresSaver checkpointer for durable state + recovery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57200" y="3703320"/>
            <a:ext cx="5486400" cy="237744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3703320"/>
            <a:ext cx="73152" cy="2377440"/>
          </a:xfrm>
          <a:prstGeom prst="rect">
            <a:avLst/>
          </a:prstGeom>
          <a:solidFill>
            <a:srgbClr val="1E2A4A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384048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51560" y="38221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Models (via OpenRouter)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85800" y="4206240"/>
            <a:ext cx="51206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LLM: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Qwen3-235B-A22B-Instruct-2507 — 262k context, strong instruction-following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LLM: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2.0 Flash — low-latency multimodal for receipt extraction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</a:t>
            </a:r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402-error routing to Gemini 2.0 Flash when primary quota/credit fails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6400800" y="1554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MCP servers (FastMCP · Streamable HTTP)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6400800" y="1965960"/>
            <a:ext cx="5349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37960" y="2194560"/>
            <a:ext cx="548640" cy="54864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88" y="2304288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223760" y="20574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 MCP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0241280" y="208483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</p:sp>
      <p:sp>
        <p:nvSpPr>
          <p:cNvPr id="24" name="Text 19"/>
          <p:cNvSpPr/>
          <p:nvPr/>
        </p:nvSpPr>
        <p:spPr>
          <a:xfrm>
            <a:off x="10241280" y="20848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8001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7223760" y="236829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retrieval over Qdrant vectors (all-MiniLM-L6-v2). Used by Intake, Compliance, Advisor.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6400800" y="3063240"/>
            <a:ext cx="5349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37960" y="3291840"/>
            <a:ext cx="548640" cy="54864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3401568"/>
            <a:ext cx="329184" cy="32918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2376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DB MCP</a:t>
            </a:r>
            <a:endParaRPr lang="en-US" sz="1300" dirty="0"/>
          </a:p>
        </p:txBody>
      </p:sp>
      <p:sp>
        <p:nvSpPr>
          <p:cNvPr id="30" name="Shape 24"/>
          <p:cNvSpPr/>
          <p:nvPr/>
        </p:nvSpPr>
        <p:spPr>
          <a:xfrm>
            <a:off x="10241280" y="318211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</p:sp>
      <p:sp>
        <p:nvSpPr>
          <p:cNvPr id="31" name="Text 25"/>
          <p:cNvSpPr/>
          <p:nvPr/>
        </p:nvSpPr>
        <p:spPr>
          <a:xfrm>
            <a:off x="10241280" y="3182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8002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223760" y="346557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CRUD, historical queries, audit logging. Used by Intake, Fraud, Advisor.</a:t>
            </a:r>
            <a:endParaRPr lang="en-US" sz="1050" dirty="0"/>
          </a:p>
        </p:txBody>
      </p:sp>
      <p:sp>
        <p:nvSpPr>
          <p:cNvPr id="33" name="Shape 27"/>
          <p:cNvSpPr/>
          <p:nvPr/>
        </p:nvSpPr>
        <p:spPr>
          <a:xfrm>
            <a:off x="6400800" y="4160520"/>
            <a:ext cx="5349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537960" y="4389120"/>
            <a:ext cx="548640" cy="54864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4498848"/>
            <a:ext cx="329184" cy="32918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7223760" y="42519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Currency MCP</a:t>
            </a:r>
            <a:endParaRPr lang="en-US" sz="1300" dirty="0"/>
          </a:p>
        </p:txBody>
      </p:sp>
      <p:sp>
        <p:nvSpPr>
          <p:cNvPr id="37" name="Shape 30"/>
          <p:cNvSpPr/>
          <p:nvPr/>
        </p:nvSpPr>
        <p:spPr>
          <a:xfrm>
            <a:off x="10241280" y="427939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</p:sp>
      <p:sp>
        <p:nvSpPr>
          <p:cNvPr id="38" name="Text 31"/>
          <p:cNvSpPr/>
          <p:nvPr/>
        </p:nvSpPr>
        <p:spPr>
          <a:xfrm>
            <a:off x="10241280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8003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7223760" y="456285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Frankfurter API live exchange rates → SGD normalisation. Used by Intake.</a:t>
            </a:r>
            <a:endParaRPr lang="en-US" sz="1050" dirty="0"/>
          </a:p>
        </p:txBody>
      </p:sp>
      <p:sp>
        <p:nvSpPr>
          <p:cNvPr id="40" name="Shape 33"/>
          <p:cNvSpPr/>
          <p:nvPr/>
        </p:nvSpPr>
        <p:spPr>
          <a:xfrm>
            <a:off x="6400800" y="5257800"/>
            <a:ext cx="5349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537960" y="5486400"/>
            <a:ext cx="548640" cy="548640"/>
          </a:xfrm>
          <a:prstGeom prst="ellipse">
            <a:avLst/>
          </a:prstGeom>
          <a:solidFill>
            <a:srgbClr val="F6F7FB"/>
          </a:solidFill>
          <a:ln w="12700">
            <a:solidFill>
              <a:srgbClr val="1E2A4A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7688" y="5596128"/>
            <a:ext cx="329184" cy="32918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223760" y="53492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Email MCP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10241280" y="5376672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FEF3C7"/>
          </a:solidFill>
          <a:ln/>
        </p:spPr>
      </p:sp>
      <p:sp>
        <p:nvSpPr>
          <p:cNvPr id="45" name="Text 37"/>
          <p:cNvSpPr/>
          <p:nvPr/>
        </p:nvSpPr>
        <p:spPr>
          <a:xfrm>
            <a:off x="10241280" y="537667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8004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7223760" y="5660136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notifications for returns, approvals, escalations. Used by Advisor.</a:t>
            </a:r>
            <a:endParaRPr lang="en-US" sz="1050" dirty="0"/>
          </a:p>
        </p:txBody>
      </p:sp>
      <p:sp>
        <p:nvSpPr>
          <p:cNvPr id="47" name="Text 39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MCP server is a separately deployed Docker container with health checks — independent scaling, fault isolation.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FAILURE HANDLING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at every stage — conservative defaults on ambiguity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669280" cy="484632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484632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673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detection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85800" y="20574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Pre-submission gate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233172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Unreadable receipts, missing required fields, low-confidence extractions, non-numeric amounts blocked by Intake Agent.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880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validation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15468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codes normalised; manual exchange rates validated against predefined rules.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7033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Per-turn validator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39776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Reassesses signals from prior tool calls — duplicate-submission guards, tool failures converted into routing signals.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45262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short-circuit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480060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Agent performs exact-duplicate check that bypasses the LLM for high-confidence matches.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53492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verdicts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" y="56235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outputs explicit violation flags with cited policy clauses — no free-text ambiguity.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0" y="1554480"/>
            <a:ext cx="5349240" cy="484632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1554480"/>
            <a:ext cx="73152" cy="48463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167335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Retry, critique &amp; fallback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662940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Model-level fallback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233172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402-error fallback auto-routes from primary (Qwen3-235B) to Gemini 2.0 Flash on quota/credit errors.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629400" y="2880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Workflow-level confirm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629400" y="315468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 fields shown with confidence scores — claimant confirms before downstream processing.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629400" y="37033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degradation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629400" y="39776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unavailable → prompt for manual rate; failed submission → retry within session; tool failures non-fatal.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62940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defaults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629400" y="4800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Compliance: unparseable → requires review. Fraud: uncertain → suspicious (not legitimate). Advisor: exception → escalate with recorded reason.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2940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recovery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629400" y="5623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PostgreSQL checkpointer recovers from transient failures; repeated clarification failures escalate gracefully.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Human review + DeepEval — 5 categories, 20 benchmarks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eval — DeepEval categories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5760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20240"/>
            <a:ext cx="54864" cy="7498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8368" y="20574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0574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intent labelling on claim records.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5760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761488"/>
            <a:ext cx="54864" cy="7498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89864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Extraction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86000" y="289864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accuracy on VLM output vs ground truth.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5760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602736"/>
            <a:ext cx="54864" cy="7498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58368" y="37398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286000" y="373989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decisions on edge-case policy scenarios.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443984"/>
            <a:ext cx="5760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443984"/>
            <a:ext cx="54864" cy="7498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458114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286000" y="45811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Guards against hallucinated submissions and unsafe actions.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5285232"/>
            <a:ext cx="576072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5285232"/>
            <a:ext cx="54864" cy="749808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542239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Workflow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2286000" y="542239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trajectory success against expected graph paths.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0" y="155448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0" y="182880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Single-prompt Qwen 2.5-72B: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receipt data + policy in one prompt — no tool use, no agentic decomposition.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SAP Concur workflow: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SUTD admin process (15–25 min, 0% automation).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0" y="306324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analysis (4 mechanisms)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0" y="338328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595360" y="33832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receipt through VLM multiple times — measure field-level agreement across runs.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00800" y="409651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agreement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595360" y="4096512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VLM-extracted amounts checked against text descriptions and DB records to catch hallucinations.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80974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models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595360" y="4809744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VLM (different family) independently verifies fields; disagreements flag for review.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552297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analysis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595360" y="5522976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compliance-vs-fraud conflicts to surface systematic patterns and calibrate advisor thresholds.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evaluation provides qualitative oversight alongside DeepEval LLM-as-a-Judge scoring.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Targets across efficiency, accuracy, and decision quality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11277295" cy="1005840"/>
          </a:xfrm>
          <a:prstGeom prst="rect">
            <a:avLst/>
          </a:prstGeom>
          <a:solidFill>
            <a:srgbClr val="1E2A4A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554480"/>
            <a:ext cx="109728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627632"/>
            <a:ext cx="22188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15–25 → &lt;3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per claim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267712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time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7523" y="1627632"/>
            <a:ext cx="22188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67523" y="2057400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67523" y="2267712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 accuracy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986406" y="1627632"/>
            <a:ext cx="22188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986406" y="2057400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human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6406" y="2267712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verdict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205289" y="1627632"/>
            <a:ext cx="22188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&gt;85%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05289" y="2057400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205289" y="2267712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424172" y="1627632"/>
            <a:ext cx="22188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&gt;90%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24172" y="2057400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gold label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24172" y="2267712"/>
            <a:ext cx="22188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decision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3108960" cy="457200"/>
          </a:xfrm>
          <a:prstGeom prst="rect">
            <a:avLst/>
          </a:prstGeom>
          <a:solidFill>
            <a:srgbClr val="1E2A4A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2880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566160" y="2834640"/>
            <a:ext cx="1463040" cy="457200"/>
          </a:xfrm>
          <a:prstGeom prst="rect">
            <a:avLst/>
          </a:prstGeom>
          <a:solidFill>
            <a:srgbClr val="1E2A4A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03320" y="2880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2834640"/>
            <a:ext cx="6705295" cy="457200"/>
          </a:xfrm>
          <a:prstGeom prst="rect">
            <a:avLst/>
          </a:prstGeom>
          <a:solidFill>
            <a:srgbClr val="1E2A4A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8803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method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91840"/>
            <a:ext cx="310896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time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566160" y="3291840"/>
            <a:ext cx="146304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03320" y="33375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 min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029200" y="3291840"/>
            <a:ext cx="6705295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66360" y="33375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study, receipt upload → claim persisted (baseline: 15–25 min).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37490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794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extraction accuracy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566160" y="3749040"/>
            <a:ext cx="14630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794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95%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029200" y="3749040"/>
            <a:ext cx="670529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66360" y="37947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Per-field accuracy vs annotated ground truth across test receipts.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206240"/>
            <a:ext cx="310896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4360" y="4251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verdict accuracy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566160" y="4206240"/>
            <a:ext cx="146304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703320" y="4251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5029200" y="4206240"/>
            <a:ext cx="6705295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42519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human reviewers on held-out claims with known violations.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57200" y="4663440"/>
            <a:ext cx="310896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4709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precision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566160" y="4663440"/>
            <a:ext cx="1463040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703320" y="47091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85%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5029200" y="4663440"/>
            <a:ext cx="6705295" cy="45720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47091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on labelled set — low FP priority to avoid noisy escalations.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57200" y="5120640"/>
            <a:ext cx="310896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94360" y="5166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accuracy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566160" y="5120640"/>
            <a:ext cx="1463040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703320" y="51663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90%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5029200" y="5120640"/>
            <a:ext cx="6705295" cy="457200"/>
          </a:xfrm>
          <a:prstGeom prst="rect">
            <a:avLst/>
          </a:prstGeom>
          <a:solidFill>
            <a:srgbClr val="F6F7FB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5166360"/>
            <a:ext cx="6522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decision agreement with gold-standard reviewer labels.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57200" y="6126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pending: full annotated test set and reviewer gold-standard labelling in progress.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09728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LIMITATIONS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667512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agentic design pays off — and where it still struggles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094415" y="457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1277295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AI · Tung · Lau · Oon · Singh · SUTD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5669280" cy="484632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554480"/>
            <a:ext cx="73152" cy="484632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9164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167335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agentic behaviour is beneficial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10312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across heterogeneous systems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685800" y="2377440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inference, vector search, SQL, email — can't be collapsed into one prompt without losing state-changing actions.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85800" y="2953512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refinement (ReAct)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685800" y="3227832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re-prompts for clearer images on low confidence — a capability a single-pass pipeline lacks.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85800" y="3803904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compliance + fraud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85800" y="4078224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fan-out reduces end-to-end latency; benefit grows with more independent validations.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85800" y="4654296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685800" y="4928616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heuristics can evolve without modifying intake or compliance; each agent testable in isolation.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85800" y="55046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routing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" y="5779008"/>
            <a:ext cx="5349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claims auto-approve; high-risk escalate with full audit trails — automation + oversight balance.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0" y="1554480"/>
            <a:ext cx="5349240" cy="4846320"/>
          </a:xfrm>
          <a:prstGeom prst="rect">
            <a:avLst/>
          </a:prstGeom>
          <a:solidFill>
            <a:srgbClr val="F6F7F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0" y="1554480"/>
            <a:ext cx="73152" cy="4846320"/>
          </a:xfrm>
          <a:prstGeom prst="rect">
            <a:avLst/>
          </a:prstGeom>
          <a:solidFill>
            <a:srgbClr val="B91C1C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995160" y="16733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surfaced in development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6629400" y="2103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vs workflow adherence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629400" y="237744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between LLM freedom to reason and the determinism a business workflow requires — calibrated via system prompts + graph code. ReAct fits exploratory tool use better.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6629400" y="295351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Hallucinated terminal actions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6629400" y="3227832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occasionally announced successful submission with fabricated claim numbers. Requires dedicated guards — a trust failure in an expense system.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6629400" y="380390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VLM reliability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6629400" y="4078224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lighting, handwriting, or non-standard formats drop extraction confidence; thresholds mitigate but don't eliminate.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6629400" y="46542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scope</a:t>
            </a:r>
            <a:endParaRPr lang="en-US" sz="1150" dirty="0"/>
          </a:p>
        </p:txBody>
      </p:sp>
      <p:sp>
        <p:nvSpPr>
          <p:cNvPr id="33" name="Text 29"/>
          <p:cNvSpPr/>
          <p:nvPr/>
        </p:nvSpPr>
        <p:spPr>
          <a:xfrm>
            <a:off x="6629400" y="4928616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 in our own DB only — can't detect cross-system fraud or collusion without external data.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6629400" y="55046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evaluation limits</a:t>
            </a:r>
            <a:endParaRPr lang="en-US" sz="1150" dirty="0"/>
          </a:p>
        </p:txBody>
      </p:sp>
      <p:sp>
        <p:nvSpPr>
          <p:cNvPr id="35" name="Text 31"/>
          <p:cNvSpPr/>
          <p:nvPr/>
        </p:nvSpPr>
        <p:spPr>
          <a:xfrm>
            <a:off x="6629400" y="5779008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 costs + variable latency; no large annotated SUTD claim dataset yet → synthetic cases limit statistical power.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Expense Claims — Expense AI</dc:title>
  <dc:subject>PptxGenJS Presentation</dc:subject>
  <dc:creator>Tung, Lau, Oon, Singh</dc:creator>
  <cp:lastModifiedBy>Tung, Lau, Oon, Singh</cp:lastModifiedBy>
  <cp:revision>1</cp:revision>
  <dcterms:created xsi:type="dcterms:W3CDTF">2026-04-19T15:45:23Z</dcterms:created>
  <dcterms:modified xsi:type="dcterms:W3CDTF">2026-04-19T15:45:23Z</dcterms:modified>
</cp:coreProperties>
</file>